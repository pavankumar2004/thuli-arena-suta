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We built four connected things on one source of truth: Suta's live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Suta's voice is nostalgic and personal. Our build had to keep that voice and never invent a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pipeline feeds everything. The catalogue is scraped and verified once; three experiences read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choice is justified by latency, grounding, scale or aesthetics.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1 numbers come straight from data/export/REPORT.md.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decisions that make the data trustworthy, plus the fields later tasks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lookbook: six chapters on six of Suta's own collections. All prices from the catalogue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Shoppable hotspots, the look drawer, and build-time grounding.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Made for one: public Instagram posts become three real looks, each tied to a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stylist: rules and a planner decide what to fetch; code builds the SQL; a writer streams a checked reply.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circuit-breakers, session memory, and the 15:45 curveball occasion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Try-on happens only when asked, for one piece. Measured 20 seconds in our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5 readiness: abuse is handled with plain 4xx answers, never 500s, and costs are capped.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the design differs from the usual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Run it with npm run dev inside lookbook/.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1_cover_926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36576" cy="6858000"/>
          </a:xfrm>
          <a:prstGeom prst="rect">
            <a:avLst/>
          </a:prstGeom>
          <a:solidFill>
            <a:srgbClr val="D99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D99B26"/>
                </a:solidFill>
                <a:latin typeface="Calibri"/>
              </a:rPr>
              <a:t>THULI ARENA  ·  HACKATHON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FAF7F2"/>
                </a:solidFill>
                <a:latin typeface="Georgia"/>
              </a:rPr>
              <a:t>Suta, woven
into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D7DCE2"/>
                </a:solidFill>
                <a:latin typeface="Calibri"/>
              </a:rPr>
              <a:t>A verified catalogue, an editorial lookbook, a lookbook made for one person, and a stylist with a fitting room. Four builds, one rule: every piece shown is real, at its real price.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5120640" cy="9525"/>
          </a:xfrm>
          <a:prstGeom prst="rect">
            <a:avLst/>
          </a:prstGeom>
          <a:solidFill>
            <a:srgbClr val="3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1" i="0" spc="200">
                <a:solidFill>
                  <a:srgbClr val="D99B26"/>
                </a:solidFill>
                <a:latin typeface="Calibri"/>
              </a:rPr>
              <a:t>TASK 1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FAF7F2"/>
                </a:solidFill>
                <a:latin typeface="Georgia"/>
              </a:rPr>
              <a:t>Catalogue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544068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1" i="0" spc="200">
                <a:solidFill>
                  <a:srgbClr val="D99B26"/>
                </a:solidFill>
                <a:latin typeface="Calibri"/>
              </a:rPr>
              <a:t>TASK 2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FAF7F2"/>
                </a:solidFill>
                <a:latin typeface="Georgia"/>
              </a:rPr>
              <a:t>Lookbook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544068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1" i="0" spc="200">
                <a:solidFill>
                  <a:srgbClr val="D99B26"/>
                </a:solidFill>
                <a:latin typeface="Calibri"/>
              </a:rPr>
              <a:t>TASK 3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FAF7F2"/>
                </a:solidFill>
                <a:latin typeface="Georgia"/>
              </a:rPr>
              <a:t>Made for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544068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1" i="0" spc="200">
                <a:solidFill>
                  <a:srgbClr val="D99B26"/>
                </a:solidFill>
                <a:latin typeface="Calibri"/>
              </a:rPr>
              <a:t>TASK 4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FAF7F2"/>
                </a:solidFill>
                <a:latin typeface="Georgia"/>
              </a:rPr>
              <a:t>Stylist + try-on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01  ·  THE 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 i="0">
                <a:solidFill>
                  <a:srgbClr val="1A1A1A"/>
                </a:solidFill>
                <a:latin typeface="Georgia"/>
              </a:rPr>
              <a:t>Handloom with
a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Suta makes handloom sarees, blouses and everyday Indian wear that feel like they came out of a grandmother's trunk: soft mul cotton, real weaves, and a story behind every product name.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A626A"/>
                </a:solidFill>
                <a:latin typeface="Calibri"/>
              </a:rPr>
              <a:t>Our job was to bring that soul online without losing a single fact: the same nostalgia in the pages, and the catalogue's truth underneath every word.</a:t>
            </a:r>
          </a:p>
        </p:txBody>
      </p:sp>
      <p:pic>
        <p:nvPicPr>
          <p:cNvPr id="5" name="Picture 4" descr="A2_chapter_switcher_1608x8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640080"/>
            <a:ext cx="5166360" cy="2697480"/>
          </a:xfrm>
          <a:prstGeom prst="rect">
            <a:avLst/>
          </a:prstGeom>
          <a:ln w="9525">
            <a:solidFill>
              <a:srgbClr val="D9D0C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34290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5A626A"/>
                </a:solidFill>
                <a:latin typeface="Calibri"/>
              </a:rPr>
              <a:t>Chapter I · Agomoni, from the live lookbook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9776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D99B26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995927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Grounded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A626A"/>
                </a:solidFill>
                <a:latin typeface="Calibri"/>
              </a:rPr>
              <a:t>Nothing invented. Every card, price and size is a database 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274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D99B26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745736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Editorial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A626A"/>
                </a:solidFill>
                <a:latin typeface="Calibri"/>
              </a:rPr>
              <a:t>Restraint over clutter: rhythm, whitespace, the brand's own photography.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7725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D99B26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5495543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Fast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A626A"/>
                </a:solidFill>
                <a:latin typeface="Calibri"/>
              </a:rPr>
              <a:t>Cards in under 2 s; the stylist starts writing in under 3 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02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Georgia"/>
              </a:rPr>
              <a:t>One source of truth, three experiences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2011680" cy="1417320"/>
          </a:xfrm>
          <a:prstGeom prst="rect">
            <a:avLst/>
          </a:prstGeom>
          <a:solidFill>
            <a:srgbClr val="F1EBE1"/>
          </a:solidFill>
          <a:ln w="9525">
            <a:solidFill>
              <a:srgbClr val="D9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20939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200">
                <a:solidFill>
                  <a:srgbClr val="A4422D"/>
                </a:solidFill>
                <a:latin typeface="Calibri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34086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suta.in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688336"/>
            <a:ext cx="173736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A626A"/>
                </a:solidFill>
                <a:latin typeface="Calibri"/>
              </a:rPr>
              <a:t>Shopify storefront's public JSON: products, variants, collections. robots.txt-aware, 1 req/s.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670048"/>
            <a:ext cx="365760" cy="0"/>
          </a:xfrm>
          <a:prstGeom prst="line">
            <a:avLst/>
          </a:prstGeom>
          <a:ln w="12700">
            <a:solidFill>
              <a:srgbClr val="5A62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017520" y="1965960"/>
            <a:ext cx="2514600" cy="1417320"/>
          </a:xfrm>
          <a:prstGeom prst="rect">
            <a:avLst/>
          </a:prstGeom>
          <a:solidFill>
            <a:srgbClr val="F1EBE1"/>
          </a:solidFill>
          <a:ln w="9525">
            <a:solidFill>
              <a:srgbClr val="D9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2093976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200">
                <a:solidFill>
                  <a:srgbClr val="A4422D"/>
                </a:solidFill>
                <a:latin typeface="Calibri"/>
              </a:rPr>
              <a:t>TASK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340864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Catalogue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688336"/>
            <a:ext cx="224028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A626A"/>
                </a:solidFill>
                <a:latin typeface="Calibri"/>
              </a:rPr>
              <a:t>Python: fetch → scrape → build → normalise → export. Checks against the live site.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32120" y="2670048"/>
            <a:ext cx="365760" cy="0"/>
          </a:xfrm>
          <a:prstGeom prst="line">
            <a:avLst/>
          </a:prstGeom>
          <a:ln w="12700">
            <a:solidFill>
              <a:srgbClr val="5A62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897880" y="1783080"/>
            <a:ext cx="2377440" cy="1783080"/>
          </a:xfrm>
          <a:prstGeom prst="rect">
            <a:avLst/>
          </a:prstGeom>
          <a:solidFill>
            <a:srgbClr val="1C2A3A"/>
          </a:solidFill>
          <a:ln w="9525">
            <a:solidFill>
              <a:srgbClr val="1C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472" y="1911095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200">
                <a:solidFill>
                  <a:srgbClr val="D99B26"/>
                </a:solidFill>
                <a:latin typeface="Calibri"/>
              </a:rPr>
              <a:t>ONE SOURCE OF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1579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AF7F2"/>
                </a:solidFill>
                <a:latin typeface="Georgia"/>
              </a:rPr>
              <a:t>Neon Postgres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505456"/>
            <a:ext cx="2103120" cy="996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C9D0D8"/>
                </a:solidFill>
                <a:latin typeface="Calibri"/>
              </a:rPr>
              <a:t>7,249 products · 19,246 variants. pg_trgm + GIN indexes on tags, edits, sizes, colours.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1417320"/>
            <a:ext cx="2743200" cy="1261872"/>
          </a:xfrm>
          <a:prstGeom prst="rect">
            <a:avLst/>
          </a:prstGeom>
          <a:solidFill>
            <a:srgbClr val="FAF7F2"/>
          </a:solidFill>
          <a:ln w="9525">
            <a:solidFill>
              <a:srgbClr val="D9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54533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200">
                <a:solidFill>
                  <a:srgbClr val="A4422D"/>
                </a:solidFill>
                <a:latin typeface="Calibri"/>
              </a:rPr>
              <a:t>TASK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179222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Utsav lookbook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2139696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A626A"/>
                </a:solidFill>
                <a:latin typeface="Calibri"/>
              </a:rPr>
              <a:t>Pre-rendered pages; build fails if a look names a product not in the catalogue.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275320" y="2048256"/>
            <a:ext cx="548640" cy="621792"/>
          </a:xfrm>
          <a:prstGeom prst="line">
            <a:avLst/>
          </a:prstGeom>
          <a:ln w="12700">
            <a:solidFill>
              <a:srgbClr val="5A62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823960" y="2880360"/>
            <a:ext cx="2743200" cy="1261872"/>
          </a:xfrm>
          <a:prstGeom prst="rect">
            <a:avLst/>
          </a:prstGeom>
          <a:solidFill>
            <a:srgbClr val="FAF7F2"/>
          </a:solidFill>
          <a:ln w="9525">
            <a:solidFill>
              <a:srgbClr val="D9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300837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200">
                <a:solidFill>
                  <a:srgbClr val="A4422D"/>
                </a:solidFill>
                <a:latin typeface="Calibri"/>
              </a:rPr>
              <a:t>TASK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325526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Made for 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3602736"/>
            <a:ext cx="2468880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A626A"/>
                </a:solidFill>
                <a:latin typeface="Calibri"/>
              </a:rPr>
              <a:t>Instagram posts → taste → SQL shortlist → three styled looks.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75320" y="2670048"/>
            <a:ext cx="548640" cy="841248"/>
          </a:xfrm>
          <a:prstGeom prst="line">
            <a:avLst/>
          </a:prstGeom>
          <a:ln w="12700">
            <a:solidFill>
              <a:srgbClr val="5A62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823960" y="4343400"/>
            <a:ext cx="2743200" cy="1261872"/>
          </a:xfrm>
          <a:prstGeom prst="rect">
            <a:avLst/>
          </a:prstGeom>
          <a:solidFill>
            <a:srgbClr val="FAF7F2"/>
          </a:solidFill>
          <a:ln w="9525">
            <a:solidFill>
              <a:srgbClr val="D9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88552" y="447141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200">
                <a:solidFill>
                  <a:srgbClr val="A4422D"/>
                </a:solidFill>
                <a:latin typeface="Calibri"/>
              </a:rPr>
              <a:t>TASK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2" y="471830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Stylist + try-on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552" y="5065776"/>
            <a:ext cx="2468880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A626A"/>
                </a:solidFill>
                <a:latin typeface="Calibri"/>
              </a:rPr>
              <a:t>Node API routes: planner, code-built SQL, streamed writer, image model.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75320" y="2670048"/>
            <a:ext cx="548640" cy="2304288"/>
          </a:xfrm>
          <a:prstGeom prst="line">
            <a:avLst/>
          </a:prstGeom>
          <a:ln w="12700">
            <a:solidFill>
              <a:srgbClr val="5A62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0080" y="3931920"/>
            <a:ext cx="7635240" cy="2148840"/>
          </a:xfrm>
          <a:prstGeom prst="rect">
            <a:avLst/>
          </a:prstGeom>
          <a:noFill/>
          <a:ln w="9525">
            <a:solidFill>
              <a:srgbClr val="D9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069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200">
                <a:solidFill>
                  <a:srgbClr val="A4422D"/>
                </a:solidFill>
                <a:latin typeface="Calibri"/>
              </a:rPr>
              <a:t>MODELS, VIA ONE OPENROUTER CLIENT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43484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GPT-4.1 mini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A626A"/>
                </a:solidFill>
                <a:latin typeface="Calibri"/>
              </a:rPr>
              <a:t>Stylist planner + writer, photo search, fit guard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43484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Gemini 2.5 Flash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A626A"/>
                </a:solidFill>
                <a:latin typeface="Calibri"/>
              </a:rPr>
              <a:t>Tags Instagram + catalogue photos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965192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Claude Sonnet 5.5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A626A"/>
                </a:solidFill>
                <a:latin typeface="Calibri"/>
              </a:rPr>
              <a:t>Reads taste, styles the three looks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965192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Gemini 3.1 Flash Image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A626A"/>
                </a:solidFill>
                <a:latin typeface="Calibri"/>
              </a:rPr>
              <a:t>On-demand virtual try-on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495544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Gemini 3 Pro Image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A626A"/>
                </a:solidFill>
                <a:latin typeface="Calibri"/>
              </a:rPr>
              <a:t>Editorial lookbook imagery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495544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Shared client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A626A"/>
                </a:solidFill>
                <a:latin typeface="Calibri"/>
              </a:rPr>
              <a:t>Retries, fallbacks, cost logged per run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03  ·  STACK,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Georgia"/>
              </a:rPr>
              <a:t>Chosen for speed, truth and taste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200">
                <a:solidFill>
                  <a:srgbClr val="5A626A"/>
                </a:solidFill>
                <a:latin typeface="Calibri"/>
              </a:rPr>
              <a:t>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783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200">
                <a:solidFill>
                  <a:srgbClr val="5A626A"/>
                </a:solidFill>
                <a:latin typeface="Calibri"/>
              </a:rPr>
              <a:t>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78308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200">
                <a:solidFill>
                  <a:srgbClr val="5A626A"/>
                </a:solidFill>
                <a:latin typeface="Calibri"/>
              </a:rPr>
              <a:t>WHY IT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84831"/>
            <a:ext cx="10908792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4422D"/>
                </a:solidFill>
                <a:latin typeface="Calibri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176272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Python · Shopify public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19456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26A"/>
                </a:solidFill>
                <a:latin typeface="Calibri"/>
              </a:rPr>
              <a:t>Exact prices, variants and stock without parsing HTML; a full cold run takes about 4 minutes and is repeatable.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06624"/>
            <a:ext cx="10908792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79776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4422D"/>
                </a:solidFill>
                <a:latin typeface="Calibri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76148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Neon serverless Postgres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779776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26A"/>
                </a:solidFill>
                <a:latin typeface="Calibri"/>
              </a:rPr>
              <a:t>One catalogue for every task. Search is structured SQL over real attributes (no embeddings), so every match is explainable.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91840"/>
            <a:ext cx="10908792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1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4422D"/>
                </a:solidFill>
                <a:latin typeface="Calibri"/>
              </a:rPr>
              <a:t>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346703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WebSocket pool · hedged 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364991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26A"/>
                </a:solidFill>
                <a:latin typeface="Calibri"/>
              </a:rPr>
              <a:t>A warm pool, a second read fired at 1.2 s and a 5-minute cache keep the stylist's queries fast.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77056"/>
            <a:ext cx="10908792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5020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4422D"/>
                </a:solidFill>
                <a:latin typeface="Calibri"/>
              </a:rPr>
              <a:t>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9319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Next.js 16 App Router · React 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950208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26A"/>
                </a:solidFill>
                <a:latin typeface="Calibri"/>
              </a:rPr>
              <a:t>Pre-rendered lookbook pages and streaming AI routes in one codebase; secrets stay server-side.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62272"/>
            <a:ext cx="10908792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35424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4422D"/>
                </a:solidFill>
                <a:latin typeface="Calibri"/>
              </a:rPr>
              <a:t>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517136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OpenRouter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535424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26A"/>
                </a:solidFill>
                <a:latin typeface="Calibri"/>
              </a:rPr>
              <a:t>The right model per job, a fallback per call, and cost logged per run.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047488"/>
            <a:ext cx="10908792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206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4422D"/>
                </a:solidFill>
                <a:latin typeface="Calibri"/>
              </a:rPr>
              <a:t>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102352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Tailwind v4 · shadcn/ui (Radix)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512064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26A"/>
                </a:solidFill>
                <a:latin typeface="Calibri"/>
              </a:rPr>
              <a:t>Brand tokens and accessible dialogs, sheets and focus handling.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632704"/>
            <a:ext cx="10908792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05856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4422D"/>
                </a:solidFill>
                <a:latin typeface="Calibri"/>
              </a:rPr>
              <a:t>Motion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68756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Framer Motion (lazy) · Lenis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705856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 i="0">
                <a:solidFill>
                  <a:srgbClr val="5A626A"/>
                </a:solidFill>
                <a:latin typeface="Calibri"/>
              </a:rPr>
              <a:t>Editorial pacing without a heavy bundle; smooth scroll only for mouse and trackpad.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217920"/>
            <a:ext cx="10908792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TASK 1  ·  THE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Georgia"/>
              </a:rPr>
              <a:t>Every product, exactly as suta.in sells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2514600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1A1A1A"/>
                </a:solidFill>
                <a:latin typeface="Georgia"/>
              </a:rPr>
              <a:t>7,249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785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products exported
(9 add-ons and test items excluded)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874519"/>
            <a:ext cx="2514600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0116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1A1A1A"/>
                </a:solidFill>
                <a:latin typeface="Georgia"/>
              </a:rPr>
              <a:t>19,246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65785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variants: each size with its
own price and stock flag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74519"/>
            <a:ext cx="2514600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1A1A1A"/>
                </a:solidFill>
                <a:latin typeface="Georgia"/>
              </a:rPr>
              <a:t>49,288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5785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full-size images,
from Shopify's CDN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39" y="1874519"/>
            <a:ext cx="2514600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39" y="20116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i="0">
                <a:solidFill>
                  <a:srgbClr val="1A1A1A"/>
                </a:solidFill>
                <a:latin typeface="Georgia"/>
              </a:rPr>
              <a:t>37 / 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39" y="265785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categories match the counts
suta.in itself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200">
                <a:solidFill>
                  <a:srgbClr val="5A626A"/>
                </a:solidFill>
                <a:latin typeface="Calibri"/>
              </a:rPr>
              <a:t>FIELD COMPLETENESS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49274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A4422D"/>
                </a:solidFill>
                <a:latin typeface="Calibri"/>
              </a:rPr>
              <a:t>title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99081" y="3840480"/>
            <a:ext cx="1049274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A4422D"/>
                </a:solidFill>
                <a:latin typeface="Calibri"/>
              </a:rPr>
              <a:t>price 100%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58084" y="3840480"/>
            <a:ext cx="112128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A4422D"/>
                </a:solidFill>
                <a:latin typeface="Calibri"/>
              </a:rPr>
              <a:t>images 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89095" y="3840480"/>
            <a:ext cx="1049274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A4422D"/>
                </a:solidFill>
                <a:latin typeface="Calibri"/>
              </a:rPr>
              <a:t>sizes 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8097" y="3840480"/>
            <a:ext cx="1265301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A4422D"/>
                </a:solidFill>
                <a:latin typeface="Calibri"/>
              </a:rPr>
              <a:t>category 100%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3126" y="3840480"/>
            <a:ext cx="90525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A4422D"/>
                </a:solidFill>
                <a:latin typeface="Calibri"/>
              </a:rPr>
              <a:t>url 100%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38109" y="3840480"/>
            <a:ext cx="1265301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A4422D"/>
                </a:solidFill>
                <a:latin typeface="Calibri"/>
              </a:rPr>
              <a:t>colours 99.9%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200">
                <a:solidFill>
                  <a:srgbClr val="5A626A"/>
                </a:solidFill>
                <a:latin typeface="Calibri"/>
              </a:rPr>
              <a:t>THE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46320"/>
            <a:ext cx="1993392" cy="1097280"/>
          </a:xfrm>
          <a:prstGeom prst="rect">
            <a:avLst/>
          </a:prstGeom>
          <a:solidFill>
            <a:srgbClr val="F1EBE1"/>
          </a:solidFill>
          <a:ln w="9525">
            <a:solidFill>
              <a:srgbClr val="D9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5604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eorgia"/>
              </a:rPr>
              <a:t>fetch.py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85232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26A"/>
                </a:solidFill>
                <a:latin typeface="Calibri"/>
              </a:rPr>
              <a:t>robots-aware, 1 req/s, retries, disk cache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33472" y="5394960"/>
            <a:ext cx="219456" cy="0"/>
          </a:xfrm>
          <a:prstGeom prst="line">
            <a:avLst/>
          </a:prstGeom>
          <a:ln w="12700">
            <a:solidFill>
              <a:srgbClr val="5A62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852928" y="4846320"/>
            <a:ext cx="1993392" cy="1097280"/>
          </a:xfrm>
          <a:prstGeom prst="rect">
            <a:avLst/>
          </a:prstGeom>
          <a:solidFill>
            <a:srgbClr val="F1EBE1"/>
          </a:solidFill>
          <a:ln w="9525">
            <a:solidFill>
              <a:srgbClr val="D9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0088" y="495604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eorgia"/>
              </a:rPr>
              <a:t>scrape.py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0088" y="5285232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26A"/>
                </a:solidFill>
                <a:latin typeface="Calibri"/>
              </a:rPr>
              <a:t>products + every menu collection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46320" y="5394960"/>
            <a:ext cx="219456" cy="0"/>
          </a:xfrm>
          <a:prstGeom prst="line">
            <a:avLst/>
          </a:prstGeom>
          <a:ln w="12700">
            <a:solidFill>
              <a:srgbClr val="5A62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065776" y="4846320"/>
            <a:ext cx="1993392" cy="1097280"/>
          </a:xfrm>
          <a:prstGeom prst="rect">
            <a:avLst/>
          </a:prstGeom>
          <a:solidFill>
            <a:srgbClr val="F1EBE1"/>
          </a:solidFill>
          <a:ln w="9525">
            <a:solidFill>
              <a:srgbClr val="D9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02936" y="495604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eorgia"/>
              </a:rPr>
              <a:t>build.py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2936" y="5285232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26A"/>
                </a:solidFill>
                <a:latin typeface="Calibri"/>
              </a:rPr>
              <a:t>drop non-products, attach categories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59168" y="5394960"/>
            <a:ext cx="219456" cy="0"/>
          </a:xfrm>
          <a:prstGeom prst="line">
            <a:avLst/>
          </a:prstGeom>
          <a:ln w="12700">
            <a:solidFill>
              <a:srgbClr val="5A62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278624" y="4846320"/>
            <a:ext cx="1993392" cy="1097280"/>
          </a:xfrm>
          <a:prstGeom prst="rect">
            <a:avLst/>
          </a:prstGeom>
          <a:solidFill>
            <a:srgbClr val="F1EBE1"/>
          </a:solidFill>
          <a:ln w="9525">
            <a:solidFill>
              <a:srgbClr val="D9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15783" y="495604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eorgia"/>
              </a:rPr>
              <a:t>normalise.py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3" y="5285232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26A"/>
                </a:solidFill>
                <a:latin typeface="Calibri"/>
              </a:rPr>
              <a:t>one clean record per product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272016" y="5394960"/>
            <a:ext cx="219456" cy="0"/>
          </a:xfrm>
          <a:prstGeom prst="line">
            <a:avLst/>
          </a:prstGeom>
          <a:ln w="12700">
            <a:solidFill>
              <a:srgbClr val="5A62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491472" y="4846320"/>
            <a:ext cx="1993392" cy="1097280"/>
          </a:xfrm>
          <a:prstGeom prst="rect">
            <a:avLst/>
          </a:prstGeom>
          <a:solidFill>
            <a:srgbClr val="F1EBE1"/>
          </a:solidFill>
          <a:ln w="9525">
            <a:solidFill>
              <a:srgbClr val="D9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28632" y="495604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eorgia"/>
              </a:rPr>
              <a:t>export · db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28632" y="5285232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5A626A"/>
                </a:solidFill>
                <a:latin typeface="Calibri"/>
              </a:rPr>
              <a:t>JSONL + REPORT.md + Neon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TASK 1  ·  DATA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A1A1A"/>
                </a:solidFill>
                <a:latin typeface="Georgia"/>
              </a:rPr>
              <a:t>Built to survive a judge
re-checking the live 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40280"/>
            <a:ext cx="333756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50008"/>
            <a:ext cx="33375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Georgia"/>
              </a:rPr>
              <a:t>Categories from the menu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Not Shopify's free-text product_type: judges compare against the brand's own category counts.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2240280"/>
            <a:ext cx="333756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2350008"/>
            <a:ext cx="33375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Georgia"/>
              </a:rPr>
              <a:t>Nothing missed mid-scrape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Every category feed is merged and de-duplicated by Shopify id, keeping the newest copy.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38728"/>
            <a:ext cx="333756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48456"/>
            <a:ext cx="33375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Georgia"/>
              </a:rPr>
              <a:t>Sizes are variants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Nested under their product, with per-size stock in sizes_in_stock.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3538728"/>
            <a:ext cx="333756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3648456"/>
            <a:ext cx="33375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Georgia"/>
              </a:rPr>
              <a:t>Colours, most reliable first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Colour_ tags (97%), then title/URL in English or Hindi, then the photo itself (198 products).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837176"/>
            <a:ext cx="333756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46904"/>
            <a:ext cx="33375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Georgia"/>
              </a:rPr>
              <a:t>Fields for later tasks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fabric, pattern, style, technique facets; the brand's edits; pairs_with from its own copy.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4837176"/>
            <a:ext cx="333756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4946904"/>
            <a:ext cx="33375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Georgia"/>
              </a:rPr>
              <a:t>Verified, not assumed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catalogue.check: unique ids, Neon matches the export, and 20 random products re-fetched live.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868680"/>
            <a:ext cx="3566160" cy="5257800"/>
          </a:xfrm>
          <a:prstGeom prst="rect">
            <a:avLst/>
          </a:prstGeom>
          <a:solidFill>
            <a:srgbClr val="1C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051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200">
                <a:solidFill>
                  <a:srgbClr val="D99B26"/>
                </a:solidFill>
                <a:latin typeface="Calibri"/>
              </a:rPr>
              <a:t>PRODUCTS  ·  KEY 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32461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id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bigint, Shopify id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handle · url · title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text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price · compare_at_price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numeric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available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boolean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sizes · sizes_in_stock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text[]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colours · colour_source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text[] · text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department · category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text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categories · edits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text[]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attributes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jsonb facets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tags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text[]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pairs_with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text[]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images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text[]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AF7F2"/>
                </a:solidFill>
                <a:latin typeface="Consolas"/>
              </a:rPr>
              <a:t>description</a:t>
            </a:r>
            <a:r>
              <a:rPr sz="900" b="0" i="0">
                <a:solidFill>
                  <a:srgbClr val="8E9AA8"/>
                </a:solidFill>
                <a:latin typeface="Consolas"/>
              </a:rPr>
              <a:t>  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TASK 2  ·  THE LOOKBOOK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0" i="0">
                <a:solidFill>
                  <a:srgbClr val="1A1A1A"/>
                </a:solidFill>
                <a:latin typeface="Georgia"/>
              </a:rPr>
              <a:t>Utsav: a festive
almanac in six
chapters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A626A"/>
                </a:solidFill>
                <a:latin typeface="Calibri"/>
              </a:rPr>
              <a:t>One festive season, from Durga Puja to the quiet after Diwali, told the way a fashion house prints its lookbook: one idea per spread, the brand's own photography, and quiet 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60520"/>
            <a:ext cx="946403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A4422D"/>
                </a:solidFill>
                <a:latin typeface="Calibri"/>
              </a:rPr>
              <a:t>I Agomoni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77924" y="4160520"/>
            <a:ext cx="740664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A4422D"/>
                </a:solidFill>
                <a:latin typeface="Calibri"/>
              </a:rPr>
              <a:t>II Zar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0028" y="4160520"/>
            <a:ext cx="1220724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A4422D"/>
                </a:solidFill>
                <a:latin typeface="Calibri"/>
              </a:rPr>
              <a:t>III Chandrama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26280"/>
            <a:ext cx="946403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A4422D"/>
                </a:solidFill>
                <a:latin typeface="Calibri"/>
              </a:rPr>
              <a:t>IV Jalebi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7924" y="4526280"/>
            <a:ext cx="740664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A4422D"/>
                </a:solidFill>
                <a:latin typeface="Calibri"/>
              </a:rPr>
              <a:t>V Varq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0028" y="4526280"/>
            <a:ext cx="946403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44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A4422D"/>
                </a:solidFill>
                <a:latin typeface="Calibri"/>
              </a:rPr>
              <a:t>VI Kavita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1A1A1A"/>
                </a:solidFill>
                <a:latin typeface="Georgia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6869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looks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07492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1A1A1A"/>
                </a:solidFill>
                <a:latin typeface="Georgia"/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56869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real pieces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507492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1A1A1A"/>
                </a:solidFill>
                <a:latin typeface="Georgia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56869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new editorial
images</a:t>
            </a:r>
          </a:p>
        </p:txBody>
      </p:sp>
      <p:pic>
        <p:nvPicPr>
          <p:cNvPr id="17" name="Picture 16" descr="A1_cover_1115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548640"/>
            <a:ext cx="5760720" cy="5577840"/>
          </a:xfrm>
          <a:prstGeom prst="rect">
            <a:avLst/>
          </a:prstGeom>
          <a:ln w="9525">
            <a:solidFill>
              <a:srgbClr val="D9D0C2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806440" y="6172200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26A"/>
                </a:solidFill>
                <a:latin typeface="Calibri"/>
              </a:rPr>
              <a:t>The cover, live at localhost:3000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TASK 2  ·  FROM IMAGE TO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A1A1A"/>
                </a:solidFill>
                <a:latin typeface="Georgia"/>
              </a:rPr>
              <a:t>Tap the photograph, reach the real piece</a:t>
            </a:r>
          </a:p>
        </p:txBody>
      </p:sp>
      <p:pic>
        <p:nvPicPr>
          <p:cNvPr id="4" name="Picture 3" descr="B1_hotspot_figure_602x7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246120" cy="3840480"/>
          </a:xfrm>
          <a:prstGeom prst="rect">
            <a:avLst/>
          </a:prstGeom>
          <a:ln w="9525">
            <a:solidFill>
              <a:srgbClr val="D9D0C2"/>
            </a:solidFill>
          </a:ln>
        </p:spPr>
      </p:pic>
      <p:pic>
        <p:nvPicPr>
          <p:cNvPr id="5" name="Picture 4" descr="B2_look_drawer_1040x8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737360"/>
            <a:ext cx="4663440" cy="3840480"/>
          </a:xfrm>
          <a:prstGeom prst="rect">
            <a:avLst/>
          </a:prstGeom>
          <a:ln w="9525">
            <a:solidFill>
              <a:srgbClr val="D9D0C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650992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1">
                <a:solidFill>
                  <a:srgbClr val="5A626A"/>
                </a:solidFill>
                <a:latin typeface="Calibri"/>
              </a:rPr>
              <a:t>Hotspot card: piece, fabric, sale price, link. It always stays inside the frame.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65099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1">
                <a:solidFill>
                  <a:srgbClr val="5A626A"/>
                </a:solidFill>
                <a:latin typeface="Calibri"/>
              </a:rPr>
              <a:t>Look drawer: weave zoom, the label's own story, sizes in stock, the total for the look.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783080"/>
            <a:ext cx="25603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Grounded at build time.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The build fails if a look names a product that isn't in the catalogue.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Nothing hand-typed.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Titles, prices, stock, sizes and fabric all come from the export.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Three clicks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from a look to suta.in.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Fast.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Lighthouse desktop 99–100, mobile 83–89; accessibility, SEO and best practices 100.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TASK 3  ·  MADE FOR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Georgia"/>
              </a:rPr>
              <a:t>Three looks, styled
from your own posts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185416"/>
            <a:ext cx="310896" cy="310896"/>
          </a:xfrm>
          <a:prstGeom prst="ellipse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03704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7F2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Photos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Public posts saved to Neon once; repeat visits skip Instagram.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07208"/>
            <a:ext cx="310896" cy="310896"/>
          </a:xfrm>
          <a:prstGeom prst="ellipse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2549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7F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70632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Tag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A fast vision model labels each outfit in the catalogue's own vocabulary.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310896" cy="310896"/>
          </a:xfrm>
          <a:prstGeom prst="ellipse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4728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7F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92424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Taste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A strong vision model reads style, palette and three moments from life.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50792"/>
            <a:ext cx="310896" cy="310896"/>
          </a:xfrm>
          <a:prstGeom prst="ellipse">
            <a:avLst/>
          </a:prstGeom>
          <a:solidFill>
            <a:srgbClr val="1C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7F2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14216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Shortlist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No AI here: SQL picks in-stock pieces that match each moment.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72584"/>
            <a:ext cx="310896" cy="310896"/>
          </a:xfrm>
          <a:prstGeom prst="ellipse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90872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AF7F2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36008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Style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One call picks one piece per moment and writes why. Every id is validated.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4–18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681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saved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44068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~30–40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576681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first-time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44068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Georgia"/>
              </a:rPr>
              <a:t>$0.02–0.06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766816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per lookbook</a:t>
            </a:r>
          </a:p>
        </p:txBody>
      </p:sp>
      <p:pic>
        <p:nvPicPr>
          <p:cNvPr id="25" name="Picture 24" descr="C5_made_for_one_look_1048x10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548640"/>
            <a:ext cx="5669280" cy="5577840"/>
          </a:xfrm>
          <a:prstGeom prst="rect">
            <a:avLst/>
          </a:prstGeom>
          <a:ln w="9525">
            <a:solidFill>
              <a:srgbClr val="D9D0C2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5897880" y="6172200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A626A"/>
                </a:solidFill>
                <a:latin typeface="Calibri"/>
              </a:rPr>
              <a:t>A finished lookbook: their post on the left, the reasoning and real pieces on the right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1_stylist_top5_894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4846320" cy="5852160"/>
          </a:xfrm>
          <a:prstGeom prst="rect">
            <a:avLst/>
          </a:prstGeom>
          <a:ln w="9525">
            <a:solidFill>
              <a:srgbClr val="D9D0C2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594360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TASK 4  ·  THE STYLIST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86868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Georgia"/>
              </a:rPr>
              <a:t>A real conversation,
grounded in Neon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2286000"/>
            <a:ext cx="73152" cy="4572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0" y="2267712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Guard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size caps, injection stripped, rate limits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889504"/>
            <a:ext cx="73152" cy="4572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2871216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Rules + planner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instant parser and GPT-4.1 mini choose filters from the catalogue's own values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493008"/>
            <a:ext cx="73152" cy="457200"/>
          </a:xfrm>
          <a:prstGeom prst="rect">
            <a:avLst/>
          </a:prstGeom>
          <a:solidFill>
            <a:srgbClr val="D99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474720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Code-built SQL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one parameterised query ranks pieces by criteria met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096512"/>
            <a:ext cx="73152" cy="457200"/>
          </a:xfrm>
          <a:prstGeom prst="rect">
            <a:avLst/>
          </a:prstGeom>
          <a:solidFill>
            <a:srgbClr val="D99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078224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Cards first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the top five real products stream to the panel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700016"/>
            <a:ext cx="73152" cy="4572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681728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Writer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streams the reply; every sentence checked before it is sent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5440680"/>
            <a:ext cx="5623560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553212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Georgia"/>
              </a:rPr>
              <a:t>1.2–1.9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903975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cards on 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53212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Georgia"/>
              </a:rPr>
              <a:t>2.2–2.9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903975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first words of the reply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553212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Georgia"/>
              </a:rPr>
              <a:t>≤ 350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5903975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max tokens, any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TASK 4  ·  HONESTY CIRCUIT-BREAKERS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Georgia"/>
              </a:rPr>
              <a:t>It would rather say no than invent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429000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0195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Georgia"/>
              </a:rPr>
              <a:t>Never invents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The model never writes SQL; filters come only from catalogue values.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Any ₹ amount in a reply must be a price we fetched.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A failed check swaps in a plain line built from the same rows.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783080"/>
            <a:ext cx="3429000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90195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Georgia"/>
              </a:rPr>
              <a:t>Honest when short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37744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Nothing matches? One query finds what does exist nearby, with real counts.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“Festive sarees under ₹2,000 · 12” becomes a tappable suggestion.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Near misses carry a “Close match” label.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783080"/>
            <a:ext cx="3429000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1901952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Georgia"/>
              </a:rPr>
              <a:t>Remembers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237744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“Something else” leaves out everything already shown this session.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Tested: 4 turns, 20 distinct greens, 0 repeats.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Survives a reload; “New chat” clears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10927080" cy="1965960"/>
          </a:xfrm>
          <a:prstGeom prst="rect">
            <a:avLst/>
          </a:prstGeom>
          <a:solidFill>
            <a:srgbClr val="1C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200">
                <a:solidFill>
                  <a:srgbClr val="D99B26"/>
                </a:solidFill>
                <a:latin typeface="Calibri"/>
              </a:rPr>
              <a:t>THE 15:45 CURVEBALL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AF7F2"/>
                </a:solidFill>
                <a:latin typeface="Georgia"/>
              </a:rPr>
              <a:t>Occasion edit: one tap sets a hard filter on the catalogue's style and occasion tags, and it stacks with whatever the shopper types.</a:t>
            </a:r>
          </a:p>
        </p:txBody>
      </p:sp>
      <p:pic>
        <p:nvPicPr>
          <p:cNvPr id="16" name="Picture 15" descr="D1_stylist_top5_chips_516x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4754880"/>
            <a:ext cx="5486400" cy="4663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52160" y="537667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C9D0D8"/>
                </a:solidFill>
                <a:latin typeface="Calibri"/>
              </a:rPr>
              <a:t>Asked for “a pure Kanjeevaram bridal saree under ₹10”, it says plainly that no such piece exists, then offers what does.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TASK 4  ·  THE FITTING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1A1A1A"/>
                </a:solidFill>
                <a:latin typeface="Georgia"/>
              </a:rPr>
              <a:t>One click, one
try-on, on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Only the piece you choose.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No batch generation, so no timeouts and no wasted spend.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Faithful to the weave.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Your portrait plus the product's own catalogue photos go to Gemini 3.1 Flash Image.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Before and after.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Drag the line to compare; the result is saved in the chat to download later.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Bounded.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4 per visitor per 10 minutes, 3 at once; identical requests served from cache.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 i="0">
                <a:solidFill>
                  <a:srgbClr val="A4422D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Private.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Portraits are re-encoded with EXIF stripped and never stored on the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Georgia"/>
              </a:rPr>
              <a:t>~20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8873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measured, portrait to finished image</a:t>
            </a:r>
          </a:p>
        </p:txBody>
      </p:sp>
      <p:pic>
        <p:nvPicPr>
          <p:cNvPr id="7" name="Picture 6" descr="E3_tryon_split_modal_768x5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548640"/>
            <a:ext cx="5806440" cy="4142232"/>
          </a:xfrm>
          <a:prstGeom prst="rect">
            <a:avLst/>
          </a:prstGeom>
          <a:ln w="9525">
            <a:solidFill>
              <a:srgbClr val="D9D0C2"/>
            </a:solidFill>
          </a:ln>
        </p:spPr>
      </p:pic>
      <p:pic>
        <p:nvPicPr>
          <p:cNvPr id="8" name="Picture 7" descr="E1_tryon_working_modal_411x2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4846320"/>
            <a:ext cx="2788920" cy="1417320"/>
          </a:xfrm>
          <a:prstGeom prst="rect">
            <a:avLst/>
          </a:prstGeom>
          <a:ln w="9525">
            <a:solidFill>
              <a:srgbClr val="D9D0C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732520" y="489204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5A626A"/>
                </a:solidFill>
                <a:latin typeface="Calibri"/>
              </a:rPr>
              <a:t>While it works, the fitting room shows its progress: reading the photo, studying the weave, pleating the drape, setting the light.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READY FOR THE STRESS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Georgia"/>
              </a:rPr>
              <a:t>Hardened against misuse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06324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Prompt injection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Known patterns stripped and flagged; product and caption text treated as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783080"/>
            <a:ext cx="306324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874519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Token burning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Over 500 characters rejected; messages capped at 350; max_tokens ≤ 350.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306324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Malformed input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Empty, emoji-only or wrongly typed bodies get a 400 with a kind answer.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880360"/>
            <a:ext cx="306324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9718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Images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Data URLs only (no URL fetching, no SSRF); 6 MB cap; re-encoded.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306324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79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Rate limits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Chat 30 a minute; try-on 4 per 10 minutes and 3 at 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3977639"/>
            <a:ext cx="306324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4069079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Leaks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Replies naming prompts, keys or the database are discarded; secrets stay server-side.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74920"/>
            <a:ext cx="3063240" cy="12700"/>
          </a:xfrm>
          <a:prstGeom prst="rect">
            <a:avLst/>
          </a:prstGeom>
          <a:solidFill>
            <a:srgbClr val="D99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59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Fit guardrail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No womenswear try-on on a man's photo, or menswear on a woman's; unisex passes.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5074920"/>
            <a:ext cx="3063240" cy="12700"/>
          </a:xfrm>
          <a:prstGeom prst="rect">
            <a:avLst/>
          </a:prstGeom>
          <a:solidFill>
            <a:srgbClr val="A44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5166359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Georgia"/>
              </a:rPr>
              <a:t>Traceable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5A626A"/>
                </a:solidFill>
                <a:latin typeface="Calibri"/>
              </a:rPr>
              <a:t>In development, “Behind this reply” shows each Neon query, its timing and every model prompt.</a:t>
            </a:r>
          </a:p>
        </p:txBody>
      </p:sp>
      <p:pic>
        <p:nvPicPr>
          <p:cNvPr id="20" name="Picture 19" descr="E5_guardrail_refusal_modal_766x5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783080"/>
            <a:ext cx="4069080" cy="2907792"/>
          </a:xfrm>
          <a:prstGeom prst="rect">
            <a:avLst/>
          </a:prstGeom>
          <a:ln w="9525">
            <a:solidFill>
              <a:srgbClr val="D9D0C2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7498079" y="4800600"/>
            <a:ext cx="4069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5A626A"/>
                </a:solidFill>
                <a:latin typeface="Calibri"/>
              </a:rPr>
              <a:t>The fit guardrail at work: the catalogue says the saree is womenswear, a vision check reads the photo, and nothing is generated.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A4422D"/>
                </a:solidFill>
                <a:latin typeface="Calibri"/>
              </a:rPr>
              <a:t>WHAT SETS IT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 i="0">
                <a:solidFill>
                  <a:srgbClr val="1A1A1A"/>
                </a:solidFill>
                <a:latin typeface="Georgia"/>
              </a:rPr>
              <a:t>Design choices that hold up under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200">
                <a:solidFill>
                  <a:srgbClr val="5A626A"/>
                </a:solidFill>
                <a:latin typeface="Calibri"/>
              </a:rPr>
              <a:t>THE USUAL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830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200">
                <a:solidFill>
                  <a:srgbClr val="A4422D"/>
                </a:solidFill>
                <a:latin typeface="Calibri"/>
              </a:rPr>
              <a:t>WHAT WE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0927080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A626A"/>
                </a:solidFill>
                <a:latin typeface="Calibri"/>
              </a:rPr>
              <a:t>An LLM answers from memory and names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221992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99B26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21992"/>
            <a:ext cx="5257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The LLM only plans; code builds the SQL; every sentence is checked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70632"/>
            <a:ext cx="10927080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A626A"/>
                </a:solidFill>
                <a:latin typeface="Calibri"/>
              </a:rPr>
              <a:t>Try-ons generated for every card, slow and costly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62072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99B26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862072"/>
            <a:ext cx="5257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One try-on, on demand, cached, about 20 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10712"/>
            <a:ext cx="10927080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A626A"/>
                </a:solidFill>
                <a:latin typeface="Calibri"/>
              </a:rPr>
              <a:t>Embedding search: plausible but unexplainable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502152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99B26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02152"/>
            <a:ext cx="5257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Structured SQL on real attributes; every match traceable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50791"/>
            <a:ext cx="10927080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A626A"/>
                </a:solidFill>
                <a:latin typeface="Calibri"/>
              </a:rPr>
              <a:t>“No results” dead 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142232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99B26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42232"/>
            <a:ext cx="5257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Real alternatives with live counts, one tap away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90872"/>
            <a:ext cx="10927080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A626A"/>
                </a:solidFill>
                <a:latin typeface="Calibri"/>
              </a:rPr>
              <a:t>Mock or hand-typed product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4782312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99B26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782312"/>
            <a:ext cx="5257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A live catalogue, verified against suta.in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30952"/>
            <a:ext cx="10927080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A626A"/>
                </a:solidFill>
                <a:latin typeface="Calibri"/>
              </a:rPr>
              <a:t>Guardrails bolted on later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5422392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99B26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422392"/>
            <a:ext cx="5257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Georgia"/>
              </a:rPr>
              <a:t>Caps, rate limits, leak filter and fit guardrail from day 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971032"/>
            <a:ext cx="10927080" cy="9525"/>
          </a:xfrm>
          <a:prstGeom prst="rect">
            <a:avLst/>
          </a:prstGeom>
          <a:solidFill>
            <a:srgbClr val="D9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300">
                <a:solidFill>
                  <a:srgbClr val="5A626A"/>
                </a:solidFill>
                <a:latin typeface="Calibri"/>
              </a:rPr>
              <a:t>SUTA  ·  THULI ARENA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 spc="200">
                <a:solidFill>
                  <a:srgbClr val="5A626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omoni-01-shiuli-v2_1600x2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0" y="0"/>
            <a:ext cx="36576" cy="6858000"/>
          </a:xfrm>
          <a:prstGeom prst="rect">
            <a:avLst/>
          </a:prstGeom>
          <a:solidFill>
            <a:srgbClr val="D99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300">
                <a:solidFill>
                  <a:srgbClr val="D99B26"/>
                </a:solidFill>
                <a:latin typeface="Calibri"/>
              </a:rPr>
              <a:t>IN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32588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 i="0">
                <a:solidFill>
                  <a:srgbClr val="FAF7F2"/>
                </a:solidFill>
                <a:latin typeface="Georgia"/>
              </a:rPr>
              <a:t>Every piece real.
Every price true.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370332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AF7F2"/>
                </a:solidFill>
                <a:latin typeface="Georgia"/>
              </a:rPr>
              <a:t>7,249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4197096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B9C0C8"/>
                </a:solidFill>
                <a:latin typeface="Calibri"/>
              </a:rPr>
              <a:t>products,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370332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AF7F2"/>
                </a:solidFill>
                <a:latin typeface="Georgia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4197096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B9C0C8"/>
                </a:solidFill>
                <a:latin typeface="Calibri"/>
              </a:rPr>
              <a:t>editorial looks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70332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AF7F2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197096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B9C0C8"/>
                </a:solidFill>
                <a:latin typeface="Calibri"/>
              </a:rPr>
              <a:t>looks made for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370332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AF7F2"/>
                </a:solidFill>
                <a:latin typeface="Georg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4197096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B9C0C8"/>
                </a:solidFill>
                <a:latin typeface="Calibri"/>
              </a:rPr>
              <a:t>real cards per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4937760"/>
            <a:ext cx="6263640" cy="9525"/>
          </a:xfrm>
          <a:prstGeom prst="rect">
            <a:avLst/>
          </a:prstGeom>
          <a:solidFill>
            <a:srgbClr val="3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5120640"/>
            <a:ext cx="6263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D99B26"/>
                </a:solidFill>
                <a:latin typeface="Calibri"/>
              </a:rPr>
              <a:t>Run it:  </a:t>
            </a:r>
            <a:r>
              <a:rPr sz="1200" b="0" i="0">
                <a:solidFill>
                  <a:srgbClr val="FAF7F2"/>
                </a:solidFill>
                <a:latin typeface="Consolas"/>
              </a:rPr>
              <a:t>cd lookbook  ·  npm run dev  ·  localhost:3000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D99B26"/>
                </a:solidFill>
                <a:latin typeface="Calibri"/>
              </a:rPr>
              <a:t>Catalogue:  </a:t>
            </a:r>
            <a:r>
              <a:rPr sz="1200" b="0" i="0">
                <a:solidFill>
                  <a:srgbClr val="FAF7F2"/>
                </a:solidFill>
                <a:latin typeface="Consolas"/>
              </a:rPr>
              <a:t>uv run python -m catalogue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6126480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8E9AA8"/>
                </a:solidFill>
                <a:latin typeface="Calibri"/>
              </a:rPr>
              <a:t>Products and product photography © Suta; some editorial images generated for this build. An independent hackathon project, not affiliated with Suta.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